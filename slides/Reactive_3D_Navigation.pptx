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80" r:id="rId7"/>
    <p:sldId id="283" r:id="rId8"/>
    <p:sldId id="262" r:id="rId9"/>
    <p:sldId id="281" r:id="rId10"/>
    <p:sldId id="263" r:id="rId11"/>
    <p:sldId id="264" r:id="rId12"/>
    <p:sldId id="282" r:id="rId13"/>
    <p:sldId id="279" r:id="rId14"/>
  </p:sldIdLst>
  <p:sldSz cx="9144000" cy="6858000" type="screen4x3"/>
  <p:notesSz cx="10234613" cy="70993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F3E0FC-879E-47EB-9B45-A1E867F88388}">
  <a:tblStyle styleId="{08F3E0FC-879E-47EB-9B45-A1E867F88388}" styleName="Table_0">
    <a:wholeTbl>
      <a:tcTxStyle b="off" i="off">
        <a:font>
          <a:latin typeface="Verdana"/>
          <a:ea typeface="Verdana"/>
          <a:cs typeface="Verdan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E7EAEF"/>
          </a:solidFill>
        </a:fill>
      </a:tcStyle>
    </a:wholeTbl>
    <a:band1H>
      <a:tcStyle>
        <a:tcBdr/>
        <a:fill>
          <a:solidFill>
            <a:srgbClr val="CCD2DD"/>
          </a:solidFill>
        </a:fill>
      </a:tcStyle>
    </a:band1H>
    <a:band1V>
      <a:tcStyle>
        <a:tcBdr/>
        <a:fill>
          <a:solidFill>
            <a:srgbClr val="CCD2DD"/>
          </a:solidFill>
        </a:fill>
      </a:tcStyle>
    </a:band1V>
    <a:lastCol>
      <a:tcTxStyle b="on" i="off">
        <a:font>
          <a:latin typeface="Verdana"/>
          <a:ea typeface="Verdana"/>
          <a:cs typeface="Verdan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Verdana"/>
          <a:ea typeface="Verdana"/>
          <a:cs typeface="Verdan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4435304" cy="3545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5799310" y="0"/>
            <a:ext cx="4435304" cy="3545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165475" y="409575"/>
            <a:ext cx="3903663" cy="29273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059163" y="3445644"/>
            <a:ext cx="8116287" cy="31206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85750" marR="0" lvl="0" indent="-196850" algn="l" rtl="0">
              <a:spcBef>
                <a:spcPts val="420"/>
              </a:spcBef>
              <a:spcAft>
                <a:spcPts val="0"/>
              </a:spcAft>
              <a:buClr>
                <a:srgbClr val="800000"/>
              </a:buClr>
              <a:buSzPct val="1000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15950" marR="0" lvl="1" indent="-196850" algn="l" rtl="0">
              <a:spcBef>
                <a:spcPts val="420"/>
              </a:spcBef>
              <a:spcAft>
                <a:spcPts val="0"/>
              </a:spcAft>
              <a:buClr>
                <a:srgbClr val="800000"/>
              </a:buClr>
              <a:buSzPct val="1000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903288" marR="0" lvl="2" indent="-204787" algn="l" rtl="0">
              <a:spcBef>
                <a:spcPts val="420"/>
              </a:spcBef>
              <a:spcAft>
                <a:spcPts val="0"/>
              </a:spcAft>
              <a:buClr>
                <a:srgbClr val="800000"/>
              </a:buClr>
              <a:buSzPct val="1000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262063" marR="0" lvl="3" indent="-207962" algn="l" rtl="0">
              <a:spcBef>
                <a:spcPts val="420"/>
              </a:spcBef>
              <a:spcAft>
                <a:spcPts val="0"/>
              </a:spcAft>
              <a:buClr>
                <a:srgbClr val="800000"/>
              </a:buClr>
              <a:buSzPct val="1000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606550" marR="0" lvl="4" indent="-196850" algn="l" rtl="0">
              <a:spcBef>
                <a:spcPts val="420"/>
              </a:spcBef>
              <a:spcAft>
                <a:spcPts val="0"/>
              </a:spcAft>
              <a:buClr>
                <a:srgbClr val="800000"/>
              </a:buClr>
              <a:buSzPct val="1000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1" y="6744721"/>
            <a:ext cx="4435304" cy="3545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5799310" y="6744721"/>
            <a:ext cx="4435304" cy="354580"/>
          </a:xfrm>
          <a:prstGeom prst="rect">
            <a:avLst/>
          </a:prstGeom>
          <a:noFill/>
          <a:ln>
            <a:noFill/>
          </a:ln>
        </p:spPr>
        <p:txBody>
          <a:bodyPr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de-DE" sz="1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lang="de-DE" sz="13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1059163" y="3445644"/>
            <a:ext cx="8116287" cy="3120685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9" name="Shape 49"/>
          <p:cNvSpPr>
            <a:spLocks noGrp="1" noRot="1" noChangeAspect="1"/>
          </p:cNvSpPr>
          <p:nvPr>
            <p:ph type="sldImg" idx="2"/>
          </p:nvPr>
        </p:nvSpPr>
        <p:spPr>
          <a:xfrm>
            <a:off x="3165475" y="409575"/>
            <a:ext cx="3903663" cy="29273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3165475" y="409575"/>
            <a:ext cx="3903663" cy="29273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1059163" y="3445644"/>
            <a:ext cx="8116287" cy="3120685"/>
          </a:xfrm>
          <a:prstGeom prst="rect">
            <a:avLst/>
          </a:prstGeom>
          <a:noFill/>
          <a:ln>
            <a:noFill/>
          </a:ln>
        </p:spPr>
        <p:txBody>
          <a:bodyPr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250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2" name="Shape 62"/>
          <p:cNvSpPr txBox="1">
            <a:spLocks noGrp="1"/>
          </p:cNvSpPr>
          <p:nvPr>
            <p:ph type="sldNum" idx="12"/>
          </p:nvPr>
        </p:nvSpPr>
        <p:spPr>
          <a:xfrm>
            <a:off x="5799310" y="6744721"/>
            <a:ext cx="4435304" cy="354580"/>
          </a:xfrm>
          <a:prstGeom prst="rect">
            <a:avLst/>
          </a:prstGeom>
          <a:noFill/>
          <a:ln>
            <a:noFill/>
          </a:ln>
        </p:spPr>
        <p:txBody>
          <a:bodyPr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de-DE" sz="1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de-DE" sz="13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3165475" y="409575"/>
            <a:ext cx="3903663" cy="29273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1059163" y="3445644"/>
            <a:ext cx="8116200" cy="3120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sldNum" idx="12"/>
          </p:nvPr>
        </p:nvSpPr>
        <p:spPr>
          <a:xfrm>
            <a:off x="5799310" y="6744721"/>
            <a:ext cx="4435200" cy="354600"/>
          </a:xfrm>
          <a:prstGeom prst="rect">
            <a:avLst/>
          </a:prstGeom>
        </p:spPr>
        <p:txBody>
          <a:bodyPr lIns="99025" tIns="49500" rIns="99025" bIns="49500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de-DE"/>
              <a:t>3</a:t>
            </a:fld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 noRot="1" noChangeAspect="1"/>
          </p:cNvSpPr>
          <p:nvPr>
            <p:ph type="sldImg" idx="2"/>
          </p:nvPr>
        </p:nvSpPr>
        <p:spPr>
          <a:xfrm>
            <a:off x="3165475" y="409575"/>
            <a:ext cx="3903663" cy="29273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1059163" y="3445644"/>
            <a:ext cx="8116200" cy="3120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sldNum" idx="12"/>
          </p:nvPr>
        </p:nvSpPr>
        <p:spPr>
          <a:xfrm>
            <a:off x="5799310" y="6744721"/>
            <a:ext cx="4435200" cy="354600"/>
          </a:xfrm>
          <a:prstGeom prst="rect">
            <a:avLst/>
          </a:prstGeom>
        </p:spPr>
        <p:txBody>
          <a:bodyPr lIns="99025" tIns="49500" rIns="99025" bIns="49500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de-DE"/>
              <a:t>4</a:t>
            </a:fld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 noRot="1" noChangeAspect="1"/>
          </p:cNvSpPr>
          <p:nvPr>
            <p:ph type="sldImg" idx="2"/>
          </p:nvPr>
        </p:nvSpPr>
        <p:spPr>
          <a:xfrm>
            <a:off x="3165475" y="409575"/>
            <a:ext cx="3903663" cy="29273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1059163" y="3445644"/>
            <a:ext cx="8116200" cy="3120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xfrm>
            <a:off x="5799310" y="6744721"/>
            <a:ext cx="4435200" cy="354600"/>
          </a:xfrm>
          <a:prstGeom prst="rect">
            <a:avLst/>
          </a:prstGeom>
        </p:spPr>
        <p:txBody>
          <a:bodyPr lIns="99025" tIns="49500" rIns="99025" bIns="49500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de-DE"/>
              <a:t>5</a:t>
            </a:fld>
            <a:endParaRPr lang="de-D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3165475" y="409575"/>
            <a:ext cx="3903663" cy="29273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1059163" y="3445644"/>
            <a:ext cx="8116200" cy="3120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sldNum" idx="12"/>
          </p:nvPr>
        </p:nvSpPr>
        <p:spPr>
          <a:xfrm>
            <a:off x="5799310" y="6744721"/>
            <a:ext cx="4435200" cy="354600"/>
          </a:xfrm>
          <a:prstGeom prst="rect">
            <a:avLst/>
          </a:prstGeom>
        </p:spPr>
        <p:txBody>
          <a:bodyPr lIns="99025" tIns="49500" rIns="99025" bIns="49500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de-DE"/>
              <a:t>8</a:t>
            </a:fld>
            <a:endParaRPr lang="de-D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165475" y="409575"/>
            <a:ext cx="3903663" cy="29273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1059163" y="3445644"/>
            <a:ext cx="8116200" cy="31205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5799310" y="6744721"/>
            <a:ext cx="4435200" cy="354600"/>
          </a:xfrm>
          <a:prstGeom prst="rect">
            <a:avLst/>
          </a:prstGeom>
        </p:spPr>
        <p:txBody>
          <a:bodyPr lIns="99025" tIns="49500" rIns="99025" bIns="49500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de-DE"/>
              <a:t>10</a:t>
            </a:fld>
            <a:endParaRPr lang="de-D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1059163" y="3445644"/>
            <a:ext cx="8116287" cy="3120685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3165475" y="409575"/>
            <a:ext cx="3903663" cy="29273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>
            <a:spLocks noGrp="1" noRot="1" noChangeAspect="1"/>
          </p:cNvSpPr>
          <p:nvPr>
            <p:ph type="sldImg" idx="2"/>
          </p:nvPr>
        </p:nvSpPr>
        <p:spPr>
          <a:xfrm>
            <a:off x="3343275" y="533400"/>
            <a:ext cx="3548063" cy="26606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16" name="Shape 216"/>
          <p:cNvSpPr txBox="1">
            <a:spLocks noGrp="1"/>
          </p:cNvSpPr>
          <p:nvPr>
            <p:ph type="body" idx="1"/>
          </p:nvPr>
        </p:nvSpPr>
        <p:spPr>
          <a:xfrm>
            <a:off x="1059163" y="3445644"/>
            <a:ext cx="8116287" cy="3120685"/>
          </a:xfrm>
          <a:prstGeom prst="rect">
            <a:avLst/>
          </a:prstGeom>
          <a:noFill/>
          <a:ln>
            <a:noFill/>
          </a:ln>
        </p:spPr>
        <p:txBody>
          <a:bodyPr lIns="99025" tIns="49500" rIns="99025" bIns="495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1000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7" name="Shape 217"/>
          <p:cNvSpPr txBox="1">
            <a:spLocks noGrp="1"/>
          </p:cNvSpPr>
          <p:nvPr>
            <p:ph type="sldNum" idx="12"/>
          </p:nvPr>
        </p:nvSpPr>
        <p:spPr>
          <a:xfrm>
            <a:off x="5799310" y="6744721"/>
            <a:ext cx="4435304" cy="354580"/>
          </a:xfrm>
          <a:prstGeom prst="rect">
            <a:avLst/>
          </a:prstGeom>
          <a:noFill/>
          <a:ln>
            <a:noFill/>
          </a:ln>
        </p:spPr>
        <p:txBody>
          <a:bodyPr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de-DE" sz="13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de-DE" sz="13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13" descr="logo-aiscolor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0000" y="3557587"/>
            <a:ext cx="1260474" cy="1400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hape 14"/>
          <p:cNvCxnSpPr/>
          <p:nvPr/>
        </p:nvCxnSpPr>
        <p:spPr>
          <a:xfrm>
            <a:off x="0" y="4510087"/>
            <a:ext cx="7696199" cy="0"/>
          </a:xfrm>
          <a:prstGeom prst="straightConnector1">
            <a:avLst/>
          </a:prstGeom>
          <a:noFill/>
          <a:ln w="44450" cap="flat" cmpd="sng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Shape 15" descr="logo-ais-whi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7950" y="5130800"/>
            <a:ext cx="1284287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381000" y="2209800"/>
            <a:ext cx="8545671" cy="6463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81000" y="3733800"/>
            <a:ext cx="6705599" cy="5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2400" b="1" i="0" u="none" strike="noStrike" cap="none">
                <a:solidFill>
                  <a:srgbClr val="8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 Line 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671" cy="6413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381000" y="1219200"/>
            <a:ext cx="8534399" cy="5257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04800" y="2971800"/>
            <a:ext cx="8534399" cy="6413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-Line 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671" cy="120032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381000" y="1752600"/>
            <a:ext cx="8534399" cy="472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671" cy="6413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-Line Title and N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671" cy="120032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ered 2-Line 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671" cy="6463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671" cy="6413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4130674" cy="5257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2"/>
          </p:nvPr>
        </p:nvSpPr>
        <p:spPr>
          <a:xfrm>
            <a:off x="4800600" y="1295400"/>
            <a:ext cx="4130674" cy="5257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 w 2-Line Heading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671" cy="120032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381000" y="1828800"/>
            <a:ext cx="4130674" cy="472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800600" y="1828800"/>
            <a:ext cx="4130674" cy="472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1430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609600" y="381000"/>
            <a:ext cx="8424862" cy="6413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1"/>
          </p:nvPr>
        </p:nvSpPr>
        <p:spPr>
          <a:xfrm>
            <a:off x="609600" y="1295400"/>
            <a:ext cx="4130674" cy="2324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2"/>
          </p:nvPr>
        </p:nvSpPr>
        <p:spPr>
          <a:xfrm>
            <a:off x="4892675" y="1295400"/>
            <a:ext cx="4130674" cy="2324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3"/>
          </p:nvPr>
        </p:nvSpPr>
        <p:spPr>
          <a:xfrm>
            <a:off x="609600" y="3771900"/>
            <a:ext cx="4130674" cy="2324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4"/>
          </p:nvPr>
        </p:nvSpPr>
        <p:spPr>
          <a:xfrm>
            <a:off x="4892675" y="3771900"/>
            <a:ext cx="4130674" cy="2324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671" cy="6413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600" b="1" i="0" u="none" strike="noStrike" cap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534399" cy="5257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742950" marR="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600200" marR="0" lvl="3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381000" y="1655801"/>
            <a:ext cx="8545671" cy="120032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GB" noProof="1"/>
              <a:t>Reactive</a:t>
            </a:r>
            <a:r>
              <a:rPr lang="de-DE" dirty="0"/>
              <a:t> 3D Navigation</a:t>
            </a: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81000" y="3733800"/>
            <a:ext cx="6705599" cy="5333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ans Symbols"/>
              <a:buNone/>
            </a:pPr>
            <a:r>
              <a:rPr lang="de-DE" dirty="0" err="1">
                <a:solidFill>
                  <a:schemeClr val="accent2"/>
                </a:solidFill>
              </a:rPr>
              <a:t>Jing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>
                <a:solidFill>
                  <a:schemeClr val="accent2"/>
                </a:solidFill>
              </a:rPr>
              <a:t>Lu</a:t>
            </a:r>
            <a:r>
              <a:rPr lang="de-DE" dirty="0">
                <a:solidFill>
                  <a:schemeClr val="accent2"/>
                </a:solidFill>
              </a:rPr>
              <a:t>, Manuel Ruder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671" cy="6413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de-DE" sz="3600" b="1" i="0" u="none" strike="noStrike" cap="none" dirty="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Motivation</a:t>
            </a:r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381000" y="1219200"/>
            <a:ext cx="8534399" cy="52577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Char char="▪"/>
            </a:pPr>
            <a:r>
              <a:rPr lang="en-US" dirty="0"/>
              <a:t>Limited capability of laser scan</a:t>
            </a:r>
          </a:p>
          <a:p>
            <a:pPr lvl="1" indent="-342900">
              <a:spcBef>
                <a:spcPts val="0"/>
              </a:spcBef>
            </a:pPr>
            <a:r>
              <a:rPr lang="en-US" b="0" i="0" u="none" strike="noStrike" cap="none" dirty="0">
                <a:solidFill>
                  <a:schemeClr val="dk1"/>
                </a:solidFill>
                <a:sym typeface="Verdana"/>
              </a:rPr>
              <a:t>Can only see in one plane</a:t>
            </a:r>
          </a:p>
          <a:p>
            <a:pPr lvl="1" indent="-342900">
              <a:spcBef>
                <a:spcPts val="0"/>
              </a:spcBef>
            </a:pPr>
            <a:r>
              <a:rPr lang="en-US" dirty="0"/>
              <a:t>May miss obstacles slightly above or below this plane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400" dirty="0"/>
              <a:t> </a:t>
            </a:r>
            <a:endParaRPr lang="en-US" sz="2400" b="0" i="0" u="none" strike="noStrike" cap="none" dirty="0">
              <a:solidFill>
                <a:schemeClr val="dk1"/>
              </a:solidFill>
              <a:sym typeface="Verdana"/>
            </a:endParaRPr>
          </a:p>
          <a:p>
            <a:pPr indent="-342900">
              <a:spcBef>
                <a:spcPts val="0"/>
              </a:spcBef>
            </a:pPr>
            <a:r>
              <a:rPr lang="en-US" dirty="0"/>
              <a:t>Kinect camera can see much more</a:t>
            </a:r>
          </a:p>
          <a:p>
            <a:pPr lvl="1" indent="-342900">
              <a:spcBef>
                <a:spcPts val="0"/>
              </a:spcBef>
            </a:pPr>
            <a:r>
              <a:rPr lang="en-US" b="0" i="0" u="none" strike="noStrike" cap="none" dirty="0">
                <a:solidFill>
                  <a:schemeClr val="dk1"/>
                </a:solidFill>
                <a:sym typeface="Verdana"/>
              </a:rPr>
              <a:t>But limited visual angle</a:t>
            </a:r>
          </a:p>
          <a:p>
            <a:pPr lvl="1" indent="-342900">
              <a:spcBef>
                <a:spcPts val="0"/>
              </a:spcBef>
            </a:pPr>
            <a:endParaRPr lang="en-US" sz="2400" dirty="0"/>
          </a:p>
          <a:p>
            <a:pPr indent="-342900">
              <a:spcBef>
                <a:spcPts val="0"/>
              </a:spcBef>
            </a:pPr>
            <a:r>
              <a:rPr lang="en-US" b="0" i="0" u="none" strike="noStrike" cap="none" dirty="0">
                <a:solidFill>
                  <a:schemeClr val="dk1"/>
                </a:solidFill>
                <a:sym typeface="Verdana"/>
              </a:rPr>
              <a:t>Our project:</a:t>
            </a:r>
            <a:br>
              <a:rPr lang="de-DE" dirty="0"/>
            </a:br>
            <a:r>
              <a:rPr lang="de-DE" b="0" i="0" u="none" strike="noStrike" cap="none" dirty="0">
                <a:solidFill>
                  <a:schemeClr val="dk1"/>
                </a:solidFill>
                <a:sym typeface="Verdana"/>
              </a:rPr>
              <a:t>Navigation </a:t>
            </a:r>
            <a:r>
              <a:rPr lang="en-US" b="0" i="0" u="none" strike="noStrike" cap="none" dirty="0">
                <a:solidFill>
                  <a:schemeClr val="dk1"/>
                </a:solidFill>
                <a:sym typeface="Verdana"/>
              </a:rPr>
              <a:t>based</a:t>
            </a:r>
            <a:r>
              <a:rPr lang="de-DE" b="0" i="0" u="none" strike="noStrike" cap="none" dirty="0">
                <a:solidFill>
                  <a:schemeClr val="dk1"/>
                </a:solidFill>
                <a:sym typeface="Verdana"/>
              </a:rPr>
              <a:t> on </a:t>
            </a:r>
            <a:r>
              <a:rPr lang="en-US" dirty="0"/>
              <a:t>Kinect camera</a:t>
            </a:r>
            <a:endParaRPr lang="de-DE" b="0" i="0" u="none" strike="noStrike" cap="none" dirty="0">
              <a:solidFill>
                <a:schemeClr val="dk1"/>
              </a:solidFill>
              <a:sym typeface="Verdana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100000"/>
              <a:buFont typeface="Noto Sans Symbols"/>
              <a:buNone/>
            </a:pPr>
            <a:endParaRPr sz="3200" b="1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800" cy="641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de-DE" dirty="0"/>
              <a:t>Kinect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cloud</a:t>
            </a:r>
            <a:endParaRPr dirty="0"/>
          </a:p>
        </p:txBody>
      </p:sp>
      <p:pic>
        <p:nvPicPr>
          <p:cNvPr id="72" name="Shape 72" descr="rviz_screenshot_2016_07_16-17_07_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250" y="1022400"/>
            <a:ext cx="5161299" cy="545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35803" y="381000"/>
            <a:ext cx="8944824" cy="641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de-DE" dirty="0"/>
              <a:t>Kinect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cloud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filtered</a:t>
            </a:r>
            <a:endParaRPr dirty="0"/>
          </a:p>
        </p:txBody>
      </p:sp>
      <p:pic>
        <p:nvPicPr>
          <p:cNvPr id="79" name="Shape 79" descr="rviz_screenshot_2016_07_16-17_07_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212" y="1022400"/>
            <a:ext cx="5165374" cy="546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feld 1"/>
          <p:cNvSpPr txBox="1"/>
          <p:nvPr/>
        </p:nvSpPr>
        <p:spPr>
          <a:xfrm>
            <a:off x="227171" y="2571184"/>
            <a:ext cx="16650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Min height:</a:t>
            </a:r>
          </a:p>
          <a:p>
            <a:r>
              <a:rPr lang="en-US" sz="2000" dirty="0"/>
              <a:t>0.2 m</a:t>
            </a:r>
          </a:p>
          <a:p>
            <a:endParaRPr lang="en-US" sz="2000" dirty="0"/>
          </a:p>
          <a:p>
            <a:r>
              <a:rPr lang="en-US" sz="2000" dirty="0"/>
              <a:t>Max height: 0.4 m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800" cy="641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de-DE" dirty="0"/>
              <a:t>Point </a:t>
            </a:r>
            <a:r>
              <a:rPr lang="de-DE" dirty="0" err="1"/>
              <a:t>cloud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laser</a:t>
            </a:r>
            <a:r>
              <a:rPr lang="de-DE" dirty="0"/>
              <a:t> </a:t>
            </a:r>
            <a:r>
              <a:rPr lang="de-DE" dirty="0" err="1"/>
              <a:t>scan</a:t>
            </a:r>
            <a:endParaRPr dirty="0"/>
          </a:p>
        </p:txBody>
      </p:sp>
      <p:pic>
        <p:nvPicPr>
          <p:cNvPr id="87" name="Shape 87" descr="rviz_screenshot_2016_07_16-17_17_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947" y="1022387"/>
            <a:ext cx="5141900" cy="543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Limited viewing angle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0320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Create local map of the environment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Based on a circular buffer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03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342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Circular buffer</a:t>
            </a:r>
            <a:endParaRPr lang="en-US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20154"/>
              </p:ext>
            </p:extLst>
          </p:nvPr>
        </p:nvGraphicFramePr>
        <p:xfrm>
          <a:off x="597883" y="2609604"/>
          <a:ext cx="8136000" cy="9694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17783898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626892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047523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64124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3282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1745291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031264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695991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3698992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4516371"/>
                    </a:ext>
                  </a:extLst>
                </a:gridCol>
              </a:tblGrid>
              <a:tr h="484703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/>
                        <a:t>External view</a:t>
                      </a: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083754"/>
                  </a:ext>
                </a:extLst>
              </a:tr>
              <a:tr h="484703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/>
                        <a:t>Array index</a:t>
                      </a: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435829"/>
                  </a:ext>
                </a:extLst>
              </a:tr>
            </a:tbl>
          </a:graphicData>
        </a:graphic>
      </p:graphicFrame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138759" y="1837158"/>
            <a:ext cx="690659" cy="630603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418" y="4194414"/>
            <a:ext cx="690659" cy="630603"/>
          </a:xfrm>
          <a:prstGeom prst="rect">
            <a:avLst/>
          </a:prstGeom>
        </p:spPr>
      </p:pic>
      <p:graphicFrame>
        <p:nvGraphicFramePr>
          <p:cNvPr id="19" name="Tabel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415179"/>
              </p:ext>
            </p:extLst>
          </p:nvPr>
        </p:nvGraphicFramePr>
        <p:xfrm>
          <a:off x="597883" y="4968874"/>
          <a:ext cx="8136000" cy="9694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177838987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626892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047523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064124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32825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1745291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031264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695991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3698992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4516371"/>
                    </a:ext>
                  </a:extLst>
                </a:gridCol>
              </a:tblGrid>
              <a:tr h="484703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/>
                        <a:t>External view</a:t>
                      </a: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-4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083754"/>
                  </a:ext>
                </a:extLst>
              </a:tr>
              <a:tr h="484703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/>
                        <a:t>Array index</a:t>
                      </a:r>
                    </a:p>
                  </a:txBody>
                  <a:tcPr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435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581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800" cy="641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de-DE" dirty="0" err="1"/>
              <a:t>Occupancy</a:t>
            </a:r>
            <a:r>
              <a:rPr lang="de-DE" dirty="0"/>
              <a:t> </a:t>
            </a:r>
            <a:r>
              <a:rPr lang="de-DE" dirty="0" err="1"/>
              <a:t>map</a:t>
            </a:r>
            <a:endParaRPr dirty="0"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381000" y="1219200"/>
            <a:ext cx="8534400" cy="5257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95" name="Shape 95" descr="rviz_screenshot_2016_07_16-17_22_32.png"/>
          <p:cNvPicPr preferRelativeResize="0"/>
          <p:nvPr/>
        </p:nvPicPr>
        <p:blipFill rotWithShape="1">
          <a:blip r:embed="rId3">
            <a:alphaModFix/>
          </a:blip>
          <a:srcRect t="18748"/>
          <a:stretch/>
        </p:blipFill>
        <p:spPr>
          <a:xfrm>
            <a:off x="1602464" y="1219200"/>
            <a:ext cx="6054372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distance map to navigate around obstacles</a:t>
            </a:r>
          </a:p>
        </p:txBody>
      </p:sp>
    </p:spTree>
    <p:extLst>
      <p:ext uri="{BB962C8B-B14F-4D97-AF65-F5344CB8AC3E}">
        <p14:creationId xmlns:p14="http://schemas.microsoft.com/office/powerpoint/2010/main" val="429064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800" cy="641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map</a:t>
            </a:r>
            <a:endParaRPr dirty="0"/>
          </a:p>
        </p:txBody>
      </p:sp>
      <p:pic>
        <p:nvPicPr>
          <p:cNvPr id="103" name="Shape 103" descr="rviz_screenshot_2016_07_16-17_22_48.png"/>
          <p:cNvPicPr preferRelativeResize="0"/>
          <p:nvPr/>
        </p:nvPicPr>
        <p:blipFill rotWithShape="1">
          <a:blip r:embed="rId3">
            <a:alphaModFix/>
          </a:blip>
          <a:srcRect t="18759"/>
          <a:stretch/>
        </p:blipFill>
        <p:spPr>
          <a:xfrm>
            <a:off x="1589154" y="1219200"/>
            <a:ext cx="6124399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545671" cy="6413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de-DE" sz="3600" b="1" i="0" u="none" strike="noStrike" cap="none" dirty="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Navigation </a:t>
            </a:r>
            <a:r>
              <a:rPr lang="de-DE" sz="3600" b="1" i="0" u="none" strike="noStrike" cap="none" dirty="0" err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algorithm</a:t>
            </a:r>
            <a:endParaRPr lang="de-DE" sz="3600" b="1" i="0" u="none" strike="noStrike" cap="none" dirty="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8" name="Gruppieren 7"/>
          <p:cNvGrpSpPr/>
          <p:nvPr/>
        </p:nvGrpSpPr>
        <p:grpSpPr>
          <a:xfrm>
            <a:off x="1581858" y="675116"/>
            <a:ext cx="6395030" cy="6057870"/>
            <a:chOff x="2043585" y="1422259"/>
            <a:chExt cx="4702425" cy="4621945"/>
          </a:xfrm>
        </p:grpSpPr>
        <p:sp>
          <p:nvSpPr>
            <p:cNvPr id="18" name="Bogen 17"/>
            <p:cNvSpPr/>
            <p:nvPr/>
          </p:nvSpPr>
          <p:spPr>
            <a:xfrm rot="2824777">
              <a:off x="2830851" y="1440081"/>
              <a:ext cx="2196837" cy="2661718"/>
            </a:xfrm>
            <a:prstGeom prst="arc">
              <a:avLst>
                <a:gd name="adj1" fmla="val 16268744"/>
                <a:gd name="adj2" fmla="val 0"/>
              </a:avLst>
            </a:prstGeom>
            <a:ln>
              <a:headEnd type="stealth" w="lg" len="lg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Bogen 24"/>
            <p:cNvSpPr/>
            <p:nvPr/>
          </p:nvSpPr>
          <p:spPr>
            <a:xfrm rot="8271795" flipV="1">
              <a:off x="3756530" y="1422259"/>
              <a:ext cx="2117251" cy="2761771"/>
            </a:xfrm>
            <a:prstGeom prst="arc">
              <a:avLst>
                <a:gd name="adj1" fmla="val 16447231"/>
                <a:gd name="adj2" fmla="val 0"/>
              </a:avLst>
            </a:prstGeom>
            <a:ln>
              <a:solidFill>
                <a:srgbClr val="00B050"/>
              </a:solidFill>
              <a:headEnd type="stealth" w="lg" len="lg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7" name="Gruppieren 6"/>
            <p:cNvGrpSpPr/>
            <p:nvPr/>
          </p:nvGrpSpPr>
          <p:grpSpPr>
            <a:xfrm>
              <a:off x="2043585" y="1597916"/>
              <a:ext cx="4702425" cy="4446288"/>
              <a:chOff x="2043585" y="1597916"/>
              <a:chExt cx="4702425" cy="4446288"/>
            </a:xfrm>
          </p:grpSpPr>
          <p:sp>
            <p:nvSpPr>
              <p:cNvPr id="16" name="Bogen 15"/>
              <p:cNvSpPr/>
              <p:nvPr/>
            </p:nvSpPr>
            <p:spPr>
              <a:xfrm rot="14115106">
                <a:off x="3546753" y="3614927"/>
                <a:ext cx="2196837" cy="2661718"/>
              </a:xfrm>
              <a:prstGeom prst="arc">
                <a:avLst>
                  <a:gd name="adj1" fmla="val 16268744"/>
                  <a:gd name="adj2" fmla="val 0"/>
                </a:avLst>
              </a:prstGeom>
              <a:ln>
                <a:headEnd type="stealth" w="lg" len="lg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" name="Bogen 23"/>
              <p:cNvSpPr/>
              <p:nvPr/>
            </p:nvSpPr>
            <p:spPr>
              <a:xfrm rot="4940147" flipV="1">
                <a:off x="2749616" y="1365476"/>
                <a:ext cx="2196837" cy="2661718"/>
              </a:xfrm>
              <a:prstGeom prst="arc">
                <a:avLst>
                  <a:gd name="adj1" fmla="val 16268744"/>
                  <a:gd name="adj2" fmla="val 0"/>
                </a:avLst>
              </a:prstGeom>
              <a:ln>
                <a:solidFill>
                  <a:srgbClr val="00B050"/>
                </a:solidFill>
                <a:headEnd type="stealth" w="lg" len="lg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" name="Bogen 26"/>
              <p:cNvSpPr/>
              <p:nvPr/>
            </p:nvSpPr>
            <p:spPr>
              <a:xfrm rot="18775223" flipV="1">
                <a:off x="2815301" y="3508415"/>
                <a:ext cx="2196837" cy="2661718"/>
              </a:xfrm>
              <a:prstGeom prst="arc">
                <a:avLst>
                  <a:gd name="adj1" fmla="val 16268744"/>
                  <a:gd name="adj2" fmla="val 0"/>
                </a:avLst>
              </a:prstGeom>
              <a:ln>
                <a:solidFill>
                  <a:srgbClr val="00B050"/>
                </a:solidFill>
                <a:headEnd type="stealth" w="lg" len="lg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6" name="Gruppieren 5"/>
              <p:cNvGrpSpPr/>
              <p:nvPr/>
            </p:nvGrpSpPr>
            <p:grpSpPr>
              <a:xfrm>
                <a:off x="2043585" y="1602015"/>
                <a:ext cx="4702425" cy="4398518"/>
                <a:chOff x="2043585" y="1602015"/>
                <a:chExt cx="4702425" cy="4398518"/>
              </a:xfrm>
            </p:grpSpPr>
            <p:sp>
              <p:nvSpPr>
                <p:cNvPr id="109" name="Shape 109"/>
                <p:cNvSpPr/>
                <p:nvPr/>
              </p:nvSpPr>
              <p:spPr>
                <a:xfrm>
                  <a:off x="3998725" y="3515475"/>
                  <a:ext cx="720300" cy="5589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91425" tIns="91425" rIns="91425" bIns="91425" anchor="ctr" anchorCtr="0">
                  <a:noAutofit/>
                </a:bodyPr>
                <a:lstStyle/>
                <a:p>
                  <a:pPr lvl="0">
                    <a:spcBef>
                      <a:spcPts val="0"/>
                    </a:spcBef>
                    <a:buNone/>
                  </a:pPr>
                  <a:endParaRPr/>
                </a:p>
              </p:txBody>
            </p:sp>
            <p:cxnSp>
              <p:nvCxnSpPr>
                <p:cNvPr id="110" name="Shape 110"/>
                <p:cNvCxnSpPr>
                  <a:stCxn id="109" idx="0"/>
                </p:cNvCxnSpPr>
                <p:nvPr/>
              </p:nvCxnSpPr>
              <p:spPr>
                <a:xfrm rot="10800000" flipH="1">
                  <a:off x="4358875" y="2065575"/>
                  <a:ext cx="28500" cy="1449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triangle" w="lg" len="lg"/>
                </a:ln>
              </p:spPr>
            </p:cxnSp>
            <p:cxnSp>
              <p:nvCxnSpPr>
                <p:cNvPr id="111" name="Shape 111"/>
                <p:cNvCxnSpPr/>
                <p:nvPr/>
              </p:nvCxnSpPr>
              <p:spPr>
                <a:xfrm rot="10800000" flipH="1">
                  <a:off x="4690450" y="2387875"/>
                  <a:ext cx="1127700" cy="1165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triangle" w="lg" len="lg"/>
                </a:ln>
              </p:spPr>
            </p:cxnSp>
            <p:cxnSp>
              <p:nvCxnSpPr>
                <p:cNvPr id="112" name="Shape 112"/>
                <p:cNvCxnSpPr>
                  <a:stCxn id="109" idx="3"/>
                </p:cNvCxnSpPr>
                <p:nvPr/>
              </p:nvCxnSpPr>
              <p:spPr>
                <a:xfrm rot="10800000" flipH="1">
                  <a:off x="4719025" y="3761925"/>
                  <a:ext cx="1459200" cy="3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triangle" w="lg" len="lg"/>
                </a:ln>
              </p:spPr>
            </p:cxnSp>
            <p:cxnSp>
              <p:nvCxnSpPr>
                <p:cNvPr id="113" name="Shape 113"/>
                <p:cNvCxnSpPr/>
                <p:nvPr/>
              </p:nvCxnSpPr>
              <p:spPr>
                <a:xfrm>
                  <a:off x="4671500" y="4074525"/>
                  <a:ext cx="1163493" cy="1115314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triangle" w="lg" len="lg"/>
                </a:ln>
              </p:spPr>
            </p:cxnSp>
            <p:cxnSp>
              <p:nvCxnSpPr>
                <p:cNvPr id="114" name="Shape 114"/>
                <p:cNvCxnSpPr/>
                <p:nvPr/>
              </p:nvCxnSpPr>
              <p:spPr>
                <a:xfrm flipH="1">
                  <a:off x="4278195" y="4074375"/>
                  <a:ext cx="80680" cy="1480199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triangle" w="lg" len="lg"/>
                </a:ln>
              </p:spPr>
            </p:cxnSp>
            <p:cxnSp>
              <p:nvCxnSpPr>
                <p:cNvPr id="115" name="Shape 115"/>
                <p:cNvCxnSpPr/>
                <p:nvPr/>
              </p:nvCxnSpPr>
              <p:spPr>
                <a:xfrm flipH="1">
                  <a:off x="2512330" y="4055576"/>
                  <a:ext cx="1514423" cy="1048847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triangle" w="lg" len="lg"/>
                </a:ln>
              </p:spPr>
            </p:cxnSp>
            <p:cxnSp>
              <p:nvCxnSpPr>
                <p:cNvPr id="116" name="Shape 116"/>
                <p:cNvCxnSpPr>
                  <a:stCxn id="109" idx="1"/>
                </p:cNvCxnSpPr>
                <p:nvPr/>
              </p:nvCxnSpPr>
              <p:spPr>
                <a:xfrm rot="10800000">
                  <a:off x="2425825" y="3761925"/>
                  <a:ext cx="1572900" cy="3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triangle" w="lg" len="lg"/>
                </a:ln>
              </p:spPr>
            </p:cxnSp>
            <p:cxnSp>
              <p:nvCxnSpPr>
                <p:cNvPr id="117" name="Shape 117"/>
                <p:cNvCxnSpPr/>
                <p:nvPr/>
              </p:nvCxnSpPr>
              <p:spPr>
                <a:xfrm rot="10800000">
                  <a:off x="3051078" y="2482625"/>
                  <a:ext cx="966600" cy="1051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lg" len="lg"/>
                  <a:tailEnd type="triangle" w="lg" len="lg"/>
                </a:ln>
              </p:spPr>
            </p:cxnSp>
            <p:sp>
              <p:nvSpPr>
                <p:cNvPr id="2" name="Bogen 1"/>
                <p:cNvSpPr/>
                <p:nvPr/>
              </p:nvSpPr>
              <p:spPr>
                <a:xfrm>
                  <a:off x="2162038" y="2194809"/>
                  <a:ext cx="2196837" cy="2661718"/>
                </a:xfrm>
                <a:prstGeom prst="arc">
                  <a:avLst>
                    <a:gd name="adj1" fmla="val 16268744"/>
                    <a:gd name="adj2" fmla="val 0"/>
                  </a:avLst>
                </a:prstGeom>
                <a:ln>
                  <a:headEnd type="stealth" w="lg" len="lg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4" name="Bogen 13"/>
                <p:cNvSpPr/>
                <p:nvPr/>
              </p:nvSpPr>
              <p:spPr>
                <a:xfrm rot="19201673">
                  <a:off x="2093153" y="2955496"/>
                  <a:ext cx="2196837" cy="2661718"/>
                </a:xfrm>
                <a:prstGeom prst="arc">
                  <a:avLst>
                    <a:gd name="adj1" fmla="val 16268744"/>
                    <a:gd name="adj2" fmla="val 0"/>
                  </a:avLst>
                </a:prstGeom>
                <a:ln>
                  <a:headEnd type="stealth" w="lg" len="lg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5" name="Bogen 14"/>
                <p:cNvSpPr/>
                <p:nvPr/>
              </p:nvSpPr>
              <p:spPr>
                <a:xfrm rot="16659853">
                  <a:off x="2756853" y="3571256"/>
                  <a:ext cx="2196837" cy="2661718"/>
                </a:xfrm>
                <a:prstGeom prst="arc">
                  <a:avLst>
                    <a:gd name="adj1" fmla="val 16268744"/>
                    <a:gd name="adj2" fmla="val 0"/>
                  </a:avLst>
                </a:prstGeom>
                <a:ln>
                  <a:headEnd type="stealth" w="lg" len="lg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7" name="Bogen 16"/>
                <p:cNvSpPr/>
                <p:nvPr/>
              </p:nvSpPr>
              <p:spPr>
                <a:xfrm rot="10800000">
                  <a:off x="4369269" y="2757177"/>
                  <a:ext cx="2196837" cy="2661718"/>
                </a:xfrm>
                <a:prstGeom prst="arc">
                  <a:avLst>
                    <a:gd name="adj1" fmla="val 16268744"/>
                    <a:gd name="adj2" fmla="val 0"/>
                  </a:avLst>
                </a:prstGeom>
                <a:ln>
                  <a:headEnd type="stealth" w="lg" len="lg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9" name="Bogen 18"/>
                <p:cNvSpPr/>
                <p:nvPr/>
              </p:nvSpPr>
              <p:spPr>
                <a:xfrm rot="5400000">
                  <a:off x="3615889" y="1369575"/>
                  <a:ext cx="2196837" cy="2661718"/>
                </a:xfrm>
                <a:prstGeom prst="arc">
                  <a:avLst>
                    <a:gd name="adj1" fmla="val 16268744"/>
                    <a:gd name="adj2" fmla="val 0"/>
                  </a:avLst>
                </a:prstGeom>
                <a:ln>
                  <a:headEnd type="stealth" w="lg" len="lg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2" name="Bogen 21"/>
                <p:cNvSpPr/>
                <p:nvPr/>
              </p:nvSpPr>
              <p:spPr>
                <a:xfrm flipV="1">
                  <a:off x="2043585" y="2732687"/>
                  <a:ext cx="2308054" cy="2661718"/>
                </a:xfrm>
                <a:prstGeom prst="arc">
                  <a:avLst>
                    <a:gd name="adj1" fmla="val 16268744"/>
                    <a:gd name="adj2" fmla="val 0"/>
                  </a:avLst>
                </a:prstGeom>
                <a:ln>
                  <a:solidFill>
                    <a:srgbClr val="00B050"/>
                  </a:solidFill>
                  <a:headEnd type="stealth" w="lg" len="lg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3" name="Bogen 22"/>
                <p:cNvSpPr/>
                <p:nvPr/>
              </p:nvSpPr>
              <p:spPr>
                <a:xfrm rot="3042027" flipV="1">
                  <a:off x="2186857" y="1861746"/>
                  <a:ext cx="2279415" cy="2565289"/>
                </a:xfrm>
                <a:prstGeom prst="arc">
                  <a:avLst>
                    <a:gd name="adj1" fmla="val 16268744"/>
                    <a:gd name="adj2" fmla="val 0"/>
                  </a:avLst>
                </a:prstGeom>
                <a:ln>
                  <a:solidFill>
                    <a:srgbClr val="00B050"/>
                  </a:solidFill>
                  <a:headEnd type="stealth" w="lg" len="lg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26" name="Bogen 25"/>
                <p:cNvSpPr/>
                <p:nvPr/>
              </p:nvSpPr>
              <p:spPr>
                <a:xfrm rot="10800000" flipV="1">
                  <a:off x="4362032" y="2179555"/>
                  <a:ext cx="2196837" cy="2661718"/>
                </a:xfrm>
                <a:prstGeom prst="arc">
                  <a:avLst>
                    <a:gd name="adj1" fmla="val 16268744"/>
                    <a:gd name="adj2" fmla="val 0"/>
                  </a:avLst>
                </a:prstGeom>
                <a:ln>
                  <a:solidFill>
                    <a:srgbClr val="00B050"/>
                  </a:solidFill>
                  <a:headEnd type="stealth" w="lg" len="lg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8" name="Bogen 27"/>
                <p:cNvSpPr/>
                <p:nvPr/>
              </p:nvSpPr>
              <p:spPr>
                <a:xfrm rot="16200000" flipV="1">
                  <a:off x="3608652" y="3567157"/>
                  <a:ext cx="2196837" cy="2661718"/>
                </a:xfrm>
                <a:prstGeom prst="arc">
                  <a:avLst>
                    <a:gd name="adj1" fmla="val 16268744"/>
                    <a:gd name="adj2" fmla="val 0"/>
                  </a:avLst>
                </a:prstGeom>
                <a:ln>
                  <a:solidFill>
                    <a:srgbClr val="00B050"/>
                  </a:solidFill>
                  <a:headEnd type="stealth" w="lg" len="lg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0" name="Bogen 29"/>
                <p:cNvSpPr/>
                <p:nvPr/>
              </p:nvSpPr>
              <p:spPr>
                <a:xfrm rot="13633882" flipV="1">
                  <a:off x="4316732" y="3011035"/>
                  <a:ext cx="2196837" cy="2661718"/>
                </a:xfrm>
                <a:prstGeom prst="arc">
                  <a:avLst>
                    <a:gd name="adj1" fmla="val 16268744"/>
                    <a:gd name="adj2" fmla="val 0"/>
                  </a:avLst>
                </a:prstGeom>
                <a:ln>
                  <a:solidFill>
                    <a:srgbClr val="00B050"/>
                  </a:solidFill>
                  <a:headEnd type="stealth" w="lg" len="lg"/>
                  <a:tailEnd type="none" w="med" len="med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</p:grpSp>
          <p:sp>
            <p:nvSpPr>
              <p:cNvPr id="31" name="Bogen 30"/>
              <p:cNvSpPr/>
              <p:nvPr/>
            </p:nvSpPr>
            <p:spPr>
              <a:xfrm rot="8013375">
                <a:off x="4299227" y="1934236"/>
                <a:ext cx="2196837" cy="2661718"/>
              </a:xfrm>
              <a:prstGeom prst="arc">
                <a:avLst>
                  <a:gd name="adj1" fmla="val 16268744"/>
                  <a:gd name="adj2" fmla="val 0"/>
                </a:avLst>
              </a:prstGeom>
              <a:ln>
                <a:headEnd type="stealth" w="lg" len="lg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352425"/>
            <a:ext cx="8545671" cy="641350"/>
          </a:xfrm>
        </p:spPr>
        <p:txBody>
          <a:bodyPr/>
          <a:lstStyle/>
          <a:p>
            <a:r>
              <a:rPr lang="de-DE" dirty="0"/>
              <a:t>Navigation </a:t>
            </a:r>
            <a:r>
              <a:rPr lang="en-US" dirty="0"/>
              <a:t>algorithm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path with lowest distance to goal</a:t>
            </a:r>
          </a:p>
          <a:p>
            <a:endParaRPr lang="en-US" dirty="0"/>
          </a:p>
          <a:p>
            <a:r>
              <a:rPr lang="en-US" dirty="0"/>
              <a:t>For each path require at least 35 cm distance to obstacles</a:t>
            </a:r>
          </a:p>
        </p:txBody>
      </p:sp>
    </p:spTree>
    <p:extLst>
      <p:ext uri="{BB962C8B-B14F-4D97-AF65-F5344CB8AC3E}">
        <p14:creationId xmlns:p14="http://schemas.microsoft.com/office/powerpoint/2010/main" val="1358721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>
            <a:spLocks noGrp="1"/>
          </p:cNvSpPr>
          <p:nvPr>
            <p:ph type="title"/>
          </p:nvPr>
        </p:nvSpPr>
        <p:spPr>
          <a:xfrm>
            <a:off x="304800" y="2971800"/>
            <a:ext cx="8534399" cy="6413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de-DE" sz="36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pie von ProbRobotics">
  <a:themeElements>
    <a:clrScheme name="AIS">
      <a:dk1>
        <a:srgbClr val="000000"/>
      </a:dk1>
      <a:lt1>
        <a:srgbClr val="FFFFFF"/>
      </a:lt1>
      <a:dk2>
        <a:srgbClr val="336699"/>
      </a:dk2>
      <a:lt2>
        <a:srgbClr val="FFFFFF"/>
      </a:lt2>
      <a:accent1>
        <a:srgbClr val="336699"/>
      </a:accent1>
      <a:accent2>
        <a:srgbClr val="9A0000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180</Words>
  <Application>Microsoft Office PowerPoint</Application>
  <PresentationFormat>On-screen Show (4:3)</PresentationFormat>
  <Paragraphs>81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Noto Sans Symbols</vt:lpstr>
      <vt:lpstr>Arial</vt:lpstr>
      <vt:lpstr>Times New Roman</vt:lpstr>
      <vt:lpstr>Verdana</vt:lpstr>
      <vt:lpstr>Wingdings</vt:lpstr>
      <vt:lpstr>Kopie von ProbRobotics</vt:lpstr>
      <vt:lpstr>Reactive 3D Navigation</vt:lpstr>
      <vt:lpstr>Motivation</vt:lpstr>
      <vt:lpstr>Kinect point cloud</vt:lpstr>
      <vt:lpstr>Kinect point cloud ground filtered</vt:lpstr>
      <vt:lpstr>Point cloud to laser scan</vt:lpstr>
      <vt:lpstr>Limited viewing angle </vt:lpstr>
      <vt:lpstr>Circular buffer</vt:lpstr>
      <vt:lpstr>Occupancy map</vt:lpstr>
      <vt:lpstr>Navigation</vt:lpstr>
      <vt:lpstr>Distance map</vt:lpstr>
      <vt:lpstr>Navigation algorithm</vt:lpstr>
      <vt:lpstr>Navigation algorithm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Reactive 3D Navigation</dc:title>
  <cp:lastModifiedBy>Jing Lu</cp:lastModifiedBy>
  <cp:revision>15</cp:revision>
  <dcterms:modified xsi:type="dcterms:W3CDTF">2018-08-23T16:36:22Z</dcterms:modified>
</cp:coreProperties>
</file>